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230368"/>
            <a:ext cx="12188952" cy="1645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0" y="914400"/>
            <a:ext cx="1097280" cy="1097280"/>
          </a:xfrm>
          <a:prstGeom prst="ellipse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0" y="3200400"/>
            <a:ext cx="822960" cy="822960"/>
          </a:xfrm>
          <a:prstGeom prst="ellipse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0" y="4572000"/>
            <a:ext cx="548640" cy="548640"/>
          </a:xfrm>
          <a:prstGeom prst="ellipse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097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FFFFFF"/>
                </a:solidFill>
                <a:latin typeface="Calibri"/>
              </a:rPr>
              <a:t>AI IMAGE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986CB"/>
                </a:solidFill>
                <a:latin typeface="Calibri"/>
              </a:rPr>
              <a:t>Machine Learning-Based Image Classification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337560"/>
            <a:ext cx="5239512" cy="640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Calibri"/>
              </a:rPr>
              <a:t>Hall Ticket No: 2403A5237</a:t>
            </a:r>
            <a:r>
              <a:rPr lang="en-IN" sz="1500" b="1" i="0" dirty="0">
                <a:solidFill>
                  <a:srgbClr val="FFFFFF"/>
                </a:solidFill>
                <a:latin typeface="Calibri"/>
              </a:rPr>
              <a:t>2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|   Name: K. Sreeja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986CB"/>
                </a:solidFill>
                <a:latin typeface="Calibri"/>
              </a:rPr>
              <a:t>Department of Computer Science  | 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Problem Statement &amp; Dataset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118872" cy="5120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🖼️  Manual image classification is slow &amp; error-prone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📸  Huge volumes of images need automated analysis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🧠  Deep learning needs large resources; ML is practical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🔍  Multiple algorithms must be compared for best result</a:t>
            </a:r>
          </a:p>
          <a:p>
            <a:pPr algn="l"/>
            <a:endParaRPr sz="1250" b="0">
              <a:solidFill>
                <a:srgbClr val="1C1C1C"/>
              </a:solidFill>
              <a:latin typeface="Calibri"/>
            </a:endParaRP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Goal: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Build an AI system that automatically detects and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classifies images into categories (cat, dog, car,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bird, flower) using supervised ML algorithms.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15568"/>
            <a:ext cx="56692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15568"/>
            <a:ext cx="118872" cy="51206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2070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  <a:latin typeface="Calibri"/>
              </a:rPr>
              <a:t>Dataset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📦  Source      : Kaggle / Self-collected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📄  Total Images: 400 samples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🏷️  Classes     : 5 (cat, dog, car, bird, flower)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📐  Features    : 64 pixel intensity values (8×8)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⚖️  Balance     : 80 images per class</a:t>
            </a:r>
          </a:p>
          <a:p>
            <a:pPr algn="l"/>
            <a:endParaRPr sz="1250" b="0">
              <a:solidFill>
                <a:srgbClr val="1C1C1C"/>
              </a:solidFill>
              <a:latin typeface="Calibri"/>
            </a:endParaRP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Feature Extraction: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  • Each image converted to 8×8 pixel grid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  • 64 grayscale intensity values per image</a:t>
            </a: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  • Standardized using StandardScaler</a:t>
            </a:r>
          </a:p>
          <a:p>
            <a:pPr algn="l"/>
            <a:endParaRPr sz="1250" b="0">
              <a:solidFill>
                <a:srgbClr val="1C1C1C"/>
              </a:solidFill>
              <a:latin typeface="Calibri"/>
            </a:endParaRPr>
          </a:p>
          <a:p>
            <a:pPr algn="l"/>
            <a:r>
              <a:rPr sz="1250" b="0">
                <a:solidFill>
                  <a:srgbClr val="1C1C1C"/>
                </a:solidFill>
                <a:latin typeface="Calibri"/>
              </a:rPr>
              <a:t>Train / Test Split: 80% / 20% (stratified)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Methodology / Algorithms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17830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178308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33856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3619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
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965960"/>
            <a:ext cx="1600200" cy="4572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084831"/>
            <a:ext cx="1581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Kaggle dataset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400 images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5 classes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64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115568"/>
            <a:ext cx="17830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31720" y="1115568"/>
            <a:ext cx="178308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1133856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53619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Pre-
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965960"/>
            <a:ext cx="1600200" cy="4572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41448" y="2084831"/>
            <a:ext cx="1581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Label encoding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StandardScaler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Stratified split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80:20 ratio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115568"/>
            <a:ext cx="17830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1115568"/>
            <a:ext cx="178308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400" y="1133856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53619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
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965960"/>
            <a:ext cx="1600200" cy="4572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53128" y="2084831"/>
            <a:ext cx="1581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Decision Tree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Random Forest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SVM  |  KNN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NB  |  Log.Reg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115568"/>
            <a:ext cx="17830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1115568"/>
            <a:ext cx="178308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1133856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3619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965960"/>
            <a:ext cx="1600200" cy="4572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8" y="2084831"/>
            <a:ext cx="1581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Accuracy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Precision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Recall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F1-Score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1115568"/>
            <a:ext cx="17830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760" y="1115568"/>
            <a:ext cx="178308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1133856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53619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1965960"/>
            <a:ext cx="1600200" cy="4572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76488" y="2084831"/>
            <a:ext cx="1581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Bar chart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Metrics table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Confusion matrix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Best model pick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78440" y="1115568"/>
            <a:ext cx="17830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378440" y="1115568"/>
            <a:ext cx="1783080" cy="7772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1133856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7C00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53619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1965960"/>
            <a:ext cx="1600200" cy="4572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88167" y="2084831"/>
            <a:ext cx="15819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New image input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Feature extract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Scaler transform</a:t>
            </a:r>
          </a:p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Class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Comparison of Different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37744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59" y="1188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115568"/>
            <a:ext cx="155448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Accuracy (%)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15568"/>
            <a:ext cx="155448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Precision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115568"/>
            <a:ext cx="137160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1188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Recall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115568"/>
            <a:ext cx="155448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1188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F1-Score 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115568"/>
            <a:ext cx="182880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11887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Remarks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554480"/>
            <a:ext cx="2377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59" y="1636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  <a:latin typeface="Calibri"/>
              </a:rPr>
              <a:t>Decision Tree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1554480"/>
            <a:ext cx="1554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163677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  <a:latin typeface="Calibri"/>
              </a:rPr>
              <a:t>97.50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554480"/>
            <a:ext cx="1554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163677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  <a:latin typeface="Calibri"/>
              </a:rPr>
              <a:t>97.57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1554480"/>
            <a:ext cx="13716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0" y="16367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  <a:latin typeface="Calibri"/>
              </a:rPr>
              <a:t>97.50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554480"/>
            <a:ext cx="1554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163677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  <a:latin typeface="Calibri"/>
              </a:rPr>
              <a:t>97.50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1554480"/>
            <a:ext cx="18288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78240" y="16367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C1C"/>
                </a:solidFill>
                <a:latin typeface="Calibri"/>
              </a:rPr>
              <a:t>Good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1993391"/>
            <a:ext cx="237744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59" y="207568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Random Forest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1993391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0" y="207568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1993391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207568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06440" y="1993391"/>
            <a:ext cx="13716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0" y="2075687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1993391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23760" y="207568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1993391"/>
            <a:ext cx="18288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78240" y="2075687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🏆 Best 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432304"/>
            <a:ext cx="237744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59" y="2514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SVM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2432304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43200" y="251460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2432304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97680" y="251460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06440" y="2432304"/>
            <a:ext cx="13716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52160" y="25146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2432304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23760" y="251460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2432304"/>
            <a:ext cx="18288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0" y="25146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Excellent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2871215"/>
            <a:ext cx="237744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59" y="29535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KNN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7480" y="2871215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743200" y="2953511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0" y="2871215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97680" y="2953511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2871215"/>
            <a:ext cx="13716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852160" y="295351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2871215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23760" y="2953511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32520" y="2871215"/>
            <a:ext cx="18288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78240" y="295351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Excellent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310128"/>
            <a:ext cx="237744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65759" y="33924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Naive Bayes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97480" y="3310128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743200" y="339242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60" y="3310128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97680" y="339242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06440" y="3310128"/>
            <a:ext cx="13716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852160" y="33924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78040" y="3310128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23760" y="339242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32520" y="3310128"/>
            <a:ext cx="18288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778240" y="33924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Fast &amp; accurate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749039"/>
            <a:ext cx="237744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65759" y="3831335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Logistic Regression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697480" y="3749039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43200" y="3831335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51960" y="3749039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297680" y="3831335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06440" y="3749039"/>
            <a:ext cx="13716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852160" y="383133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78040" y="3749039"/>
            <a:ext cx="155448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223760" y="3831335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100.00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32520" y="3749039"/>
            <a:ext cx="1828800" cy="4389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78240" y="383133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Calibri"/>
              </a:rPr>
              <a:t>Reliable</a:t>
            </a:r>
          </a:p>
        </p:txBody>
      </p:sp>
      <p:pic>
        <p:nvPicPr>
          <p:cNvPr id="90" name="Picture 89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498848"/>
            <a:ext cx="1152144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8229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Results &amp; Accuracy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743200" cy="1188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237E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1C"/>
                </a:solidFill>
                <a:latin typeface="Calibri"/>
              </a:rPr>
              <a:t>Best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786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66"/>
                </a:solidFill>
                <a:latin typeface="Calibri"/>
              </a:rPr>
              <a:t>RF · SVM · KNN
NB · Logistic Reg.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15568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115568"/>
            <a:ext cx="2743200" cy="1188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237E"/>
                </a:solidFill>
                <a:latin typeface="Calibri"/>
              </a:rPr>
              <a:t>97.50%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1C"/>
                </a:solidFill>
                <a:latin typeface="Calibri"/>
              </a:rPr>
              <a:t>Decision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786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66"/>
                </a:solidFill>
                <a:latin typeface="Calibri"/>
              </a:rPr>
              <a:t>Slightly lower
but still strong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15568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15568"/>
            <a:ext cx="2743200" cy="1188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1C"/>
                </a:solidFill>
                <a:latin typeface="Calibri"/>
              </a:rPr>
              <a:t>Image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5786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66"/>
                </a:solidFill>
                <a:latin typeface="Calibri"/>
              </a:rPr>
              <a:t>cat · dog · car
bird · flower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115568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1115568"/>
            <a:ext cx="2743200" cy="1188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237E"/>
                </a:solidFill>
                <a:latin typeface="Calibri"/>
              </a:rPr>
              <a:t>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1C"/>
                </a:solidFill>
                <a:latin typeface="Calibri"/>
              </a:rPr>
              <a:t>Pixel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5786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66"/>
                </a:solidFill>
                <a:latin typeface="Calibri"/>
              </a:rPr>
              <a:t>8×8 image patch
per sample</a:t>
            </a:r>
          </a:p>
        </p:txBody>
      </p:sp>
      <p:pic>
        <p:nvPicPr>
          <p:cNvPr id="26" name="Picture 25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474720"/>
            <a:ext cx="7132320" cy="3154680"/>
          </a:xfrm>
          <a:prstGeom prst="rect">
            <a:avLst/>
          </a:prstGeom>
        </p:spPr>
      </p:pic>
      <p:pic>
        <p:nvPicPr>
          <p:cNvPr id="27" name="Picture 2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474720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88952" cy="1645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78992"/>
            <a:ext cx="5788152" cy="640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07008"/>
            <a:ext cx="11064240" cy="896112"/>
          </a:xfrm>
          <a:prstGeom prst="rect">
            <a:avLst/>
          </a:prstGeom>
          <a:solidFill>
            <a:srgbClr val="0D1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07008"/>
            <a:ext cx="118872" cy="8961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27101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CB"/>
                </a:solidFill>
                <a:latin typeface="Calibri"/>
              </a:rPr>
              <a:t>🏆  Best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36776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Random Forest achieved 100% Accuracy, Precision, Recall, and F1-Score — the strongest performer.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64240" cy="896112"/>
          </a:xfrm>
          <a:prstGeom prst="rect">
            <a:avLst/>
          </a:prstGeom>
          <a:solidFill>
            <a:srgbClr val="0D1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18872" cy="8961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25856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CB"/>
                </a:solidFill>
                <a:latin typeface="Calibri"/>
              </a:rPr>
              <a:t>🔬  Why Random Forest Performed 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24328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Ensemble of 100 decision trees reduces variance and overfitting; robust for high-dimensional pixel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82112"/>
            <a:ext cx="11064240" cy="896112"/>
          </a:xfrm>
          <a:prstGeom prst="rect">
            <a:avLst/>
          </a:prstGeom>
          <a:solidFill>
            <a:srgbClr val="0D1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182112"/>
            <a:ext cx="118872" cy="8961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CB"/>
                </a:solidFill>
                <a:latin typeface="Calibri"/>
              </a:rPr>
              <a:t>🖼️  Real-World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AI image detection can power security cameras, medical imaging, self-driving cars, and content moderation.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9664"/>
            <a:ext cx="11064240" cy="896112"/>
          </a:xfrm>
          <a:prstGeom prst="rect">
            <a:avLst/>
          </a:prstGeom>
          <a:solidFill>
            <a:srgbClr val="0D1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169664"/>
            <a:ext cx="118872" cy="896112"/>
          </a:xfrm>
          <a:prstGeom prst="rect">
            <a:avLst/>
          </a:prstGeom>
          <a:solidFill>
            <a:srgbClr val="7986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23367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86CB"/>
                </a:solidFill>
                <a:latin typeface="Calibri"/>
              </a:rPr>
              <a:t>🚀  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9432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Integrate CNN (deep learning) for raw pixel classification; deploy as web app using Flask or Streamlit.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6811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Thank You    K. Sreeja  |  2403A5237</a:t>
            </a:r>
            <a:r>
              <a:rPr lang="en-IN" sz="1600" b="1" i="0" dirty="0">
                <a:solidFill>
                  <a:srgbClr val="FFFFFF"/>
                </a:solidFill>
                <a:latin typeface="Calibri"/>
              </a:rPr>
              <a:t>2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458</Words>
  <Application>Microsoft Office PowerPoint</Application>
  <PresentationFormat>Custom</PresentationFormat>
  <Paragraphs>131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katkuri sreeja</cp:lastModifiedBy>
  <cp:revision>2</cp:revision>
  <dcterms:created xsi:type="dcterms:W3CDTF">2013-01-27T09:14:16Z</dcterms:created>
  <dcterms:modified xsi:type="dcterms:W3CDTF">2026-04-17T08:56:13Z</dcterms:modified>
  <cp:category/>
</cp:coreProperties>
</file>